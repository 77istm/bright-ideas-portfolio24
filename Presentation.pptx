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6" r:id="rId4"/>
    <p:sldId id="267" r:id="rId5"/>
    <p:sldId id="265" r:id="rId6"/>
    <p:sldId id="261" r:id="rId7"/>
    <p:sldId id="272" r:id="rId8"/>
    <p:sldId id="269" r:id="rId9"/>
    <p:sldId id="263" r:id="rId10"/>
    <p:sldId id="260" r:id="rId11"/>
    <p:sldId id="268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76EF3-CF25-F863-09AB-8507C09D9A54}" v="1" dt="2024-11-27T11:13:47.740"/>
    <p1510:client id="{2A73B951-3282-487D-82B3-EBE5E4B42C10}" v="91" dt="2024-11-27T11:56:23.839"/>
    <p1510:client id="{999EC57C-0836-47F8-9182-71FAA4F221DC}" v="17" dt="2024-11-26T17:56:43.788"/>
    <p1510:client id="{CD99121A-C5FE-D38F-2657-7C12CA3B8885}" v="2" dt="2024-11-27T17:11:58.5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/>
              <a:t>Presentation</a:t>
            </a:r>
            <a:br>
              <a:rPr lang="en-US" sz="4800" kern="1200"/>
            </a:br>
            <a:endParaRPr lang="en-US" sz="4800" kern="120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BCCFCE-9DE8-4A6A-F2AE-C46B9EB27238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We are Group 6 (</a:t>
            </a:r>
            <a:r>
              <a:rPr lang="en-US" sz="2400" err="1"/>
              <a:t>Masroor</a:t>
            </a:r>
            <a:r>
              <a:rPr lang="en-US" sz="2400"/>
              <a:t> Khan, Istiak Mohammad, Stanley </a:t>
            </a:r>
            <a:r>
              <a:rPr lang="en-US" sz="2400" err="1"/>
              <a:t>Ejike</a:t>
            </a:r>
            <a:r>
              <a:rPr lang="en-US" sz="2400"/>
              <a:t>-Ume, Keon </a:t>
            </a:r>
            <a:r>
              <a:rPr lang="en-US" sz="2400" err="1"/>
              <a:t>Goulbourne</a:t>
            </a:r>
            <a:r>
              <a:rPr lang="en-US" sz="2400"/>
              <a:t>, </a:t>
            </a:r>
            <a:r>
              <a:rPr lang="en-US" sz="2400" err="1"/>
              <a:t>Mahamed</a:t>
            </a:r>
            <a:r>
              <a:rPr lang="en-US" sz="2400"/>
              <a:t> </a:t>
            </a:r>
            <a:r>
              <a:rPr lang="en-US" sz="2400" err="1"/>
              <a:t>Mahamed</a:t>
            </a:r>
            <a:r>
              <a:rPr lang="en-US" sz="2400"/>
              <a:t>, </a:t>
            </a:r>
            <a:r>
              <a:rPr lang="en-US" sz="2400" err="1"/>
              <a:t>Bellal</a:t>
            </a:r>
            <a:r>
              <a:rPr lang="en-US" sz="2400"/>
              <a:t> Abdelaziz </a:t>
            </a:r>
            <a:r>
              <a:rPr lang="en-US" sz="2400" err="1"/>
              <a:t>Mezghrani</a:t>
            </a:r>
            <a:endParaRPr lang="en-US" sz="2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Our goal is to pitch our own solution for the pressing IT issues at Waitrose.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We have analyzed this topic extensively and have a presentation to submit our research as well as our solution.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lue background with a white circle and black text&#10;&#10;Description automatically generated">
            <a:extLst>
              <a:ext uri="{FF2B5EF4-FFF2-40B4-BE49-F238E27FC236}">
                <a16:creationId xmlns:a16="http://schemas.microsoft.com/office/drawing/2014/main" id="{5CC94A78-8F2B-2072-D7A0-F9D17F3C7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801" y="612067"/>
            <a:ext cx="2441383" cy="189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39D27-5ADB-3910-48AE-244B0D08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latin typeface="Book Antiqua"/>
              </a:rPr>
              <a:t>Key Issues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C0663-AE60-EB88-B1CA-86F170B3E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Book Antiqua"/>
              </a:rPr>
              <a:t>The focus for our solution are issues in the supply chain caused by lack of required software.</a:t>
            </a:r>
            <a:endParaRPr lang="en-US" sz="2000"/>
          </a:p>
          <a:p>
            <a:pPr marL="0" indent="0">
              <a:buNone/>
            </a:pPr>
            <a:endParaRPr lang="en-US" sz="2000">
              <a:latin typeface="Book Antiqua"/>
            </a:endParaRPr>
          </a:p>
          <a:p>
            <a:pPr marL="0" indent="0">
              <a:buNone/>
            </a:pPr>
            <a:r>
              <a:rPr lang="en-US" sz="2000">
                <a:latin typeface="Book Antiqua"/>
              </a:rPr>
              <a:t>This includes:</a:t>
            </a:r>
            <a:endParaRPr lang="en-US" sz="2000"/>
          </a:p>
          <a:p>
            <a:r>
              <a:rPr lang="en-US" sz="2000">
                <a:latin typeface="Book Antiqua"/>
              </a:rPr>
              <a:t>Outdated software</a:t>
            </a:r>
          </a:p>
          <a:p>
            <a:r>
              <a:rPr lang="en-US" sz="2000">
                <a:latin typeface="Book Antiqua"/>
              </a:rPr>
              <a:t>Corrupted data</a:t>
            </a:r>
          </a:p>
          <a:p>
            <a:r>
              <a:rPr lang="en-US" sz="2000">
                <a:latin typeface="Book Antiqua"/>
              </a:rPr>
              <a:t>Old/Worn hardware systems</a:t>
            </a:r>
          </a:p>
          <a:p>
            <a:r>
              <a:rPr lang="en-US" sz="2000">
                <a:latin typeface="Book Antiqua"/>
              </a:rPr>
              <a:t>Unoptimised network design</a:t>
            </a:r>
          </a:p>
        </p:txBody>
      </p:sp>
      <p:pic>
        <p:nvPicPr>
          <p:cNvPr id="4" name="Picture 3" descr="Difficulty Importance Stock Illustrations – 58 Difficulty Importance ...">
            <a:extLst>
              <a:ext uri="{FF2B5EF4-FFF2-40B4-BE49-F238E27FC236}">
                <a16:creationId xmlns:a16="http://schemas.microsoft.com/office/drawing/2014/main" id="{F5813333-7EBE-834A-E12A-D45374E26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22472"/>
            <a:ext cx="5150277" cy="343780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29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DB699E-75F2-D689-346E-E5C1D0538831}"/>
              </a:ext>
            </a:extLst>
          </p:cNvPr>
          <p:cNvSpPr txBox="1"/>
          <p:nvPr/>
        </p:nvSpPr>
        <p:spPr>
          <a:xfrm>
            <a:off x="8366448" y="292287"/>
            <a:ext cx="3822189" cy="18999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+mj-lt"/>
                <a:ea typeface="+mj-ea"/>
                <a:cs typeface="+mj-cs"/>
              </a:rPr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2935D-B491-FEA3-859D-1A84B753D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9596" y="2350157"/>
            <a:ext cx="6209041" cy="3742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2000"/>
              <a:t>Provide IT service including hardware and software.</a:t>
            </a:r>
          </a:p>
          <a:p>
            <a:pPr marL="0"/>
            <a:r>
              <a:rPr lang="en-US" sz="2000"/>
              <a:t>Reduce the technical barrier.</a:t>
            </a:r>
          </a:p>
          <a:p>
            <a:pPr marL="0"/>
            <a:r>
              <a:rPr lang="en-US" sz="2000"/>
              <a:t>Eliminate technical limitations.</a:t>
            </a:r>
          </a:p>
          <a:p>
            <a:pPr marL="0"/>
            <a:r>
              <a:rPr lang="en-US" sz="2000"/>
              <a:t>Increase customer satisfaction.</a:t>
            </a:r>
          </a:p>
          <a:p>
            <a:pPr marL="0"/>
            <a:r>
              <a:rPr lang="en-US" sz="2000"/>
              <a:t>Reduce technical failures.</a:t>
            </a:r>
          </a:p>
          <a:p>
            <a:pPr marL="0"/>
            <a:r>
              <a:rPr lang="en-US" sz="2000"/>
              <a:t>Comprehensive hardware and software integration.</a:t>
            </a:r>
          </a:p>
          <a:p>
            <a:pPr marL="0"/>
            <a:r>
              <a:rPr lang="en-US" sz="2000"/>
              <a:t>Scalable technology solutions.</a:t>
            </a:r>
          </a:p>
        </p:txBody>
      </p:sp>
      <p:pic>
        <p:nvPicPr>
          <p:cNvPr id="2" name="Picture 1" descr="Solution Stock Photos, Pictures &amp; Royalty-Free Images - iStock">
            <a:extLst>
              <a:ext uri="{FF2B5EF4-FFF2-40B4-BE49-F238E27FC236}">
                <a16:creationId xmlns:a16="http://schemas.microsoft.com/office/drawing/2014/main" id="{42CC68FE-E4AF-1AFD-A3CC-69E14F863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5" y="138546"/>
            <a:ext cx="5157451" cy="365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251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FB6DE-47A8-077F-E2C4-36EE9C660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latin typeface="Book Antiqua"/>
              </a:rPr>
              <a:t>Value proposition</a:t>
            </a:r>
            <a:endParaRPr lang="en-US" sz="4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reating a Value Proposition: A Key First Step in Building a Profitable ...">
            <a:extLst>
              <a:ext uri="{FF2B5EF4-FFF2-40B4-BE49-F238E27FC236}">
                <a16:creationId xmlns:a16="http://schemas.microsoft.com/office/drawing/2014/main" id="{E20D76A1-56FD-764E-D4AD-A18022DFA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2"/>
            <a:ext cx="5150277" cy="289703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DFF352-D187-E2BA-E590-D9594BB720DA}"/>
              </a:ext>
            </a:extLst>
          </p:cNvPr>
          <p:cNvSpPr txBox="1"/>
          <p:nvPr/>
        </p:nvSpPr>
        <p:spPr>
          <a:xfrm>
            <a:off x="297181" y="2389811"/>
            <a:ext cx="51178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Benefits for Waitrose: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 Enhanced decision-making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Reduced operational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Stronger relationships with suppliers.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EF250-1C1F-06DC-A626-3CFE60754053}"/>
              </a:ext>
            </a:extLst>
          </p:cNvPr>
          <p:cNvSpPr txBox="1"/>
          <p:nvPr/>
        </p:nvSpPr>
        <p:spPr>
          <a:xfrm>
            <a:off x="218503" y="3690368"/>
            <a:ext cx="6381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Benefits for Suppliers: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Simplified data submission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Greater visibility into Waitrose's data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Reduced compliance burden.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E52B4-477C-24EC-8C18-6532C58A84B8}"/>
              </a:ext>
            </a:extLst>
          </p:cNvPr>
          <p:cNvSpPr txBox="1"/>
          <p:nvPr/>
        </p:nvSpPr>
        <p:spPr>
          <a:xfrm>
            <a:off x="297181" y="4871411"/>
            <a:ext cx="4482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/>
              <a:t>Enhanced Customer Experience</a:t>
            </a:r>
          </a:p>
          <a:p>
            <a:r>
              <a:rPr lang="en-US" sz="1800"/>
              <a:t>Operational Efficiency</a:t>
            </a:r>
          </a:p>
          <a:p>
            <a:r>
              <a:rPr lang="en-US" sz="1800"/>
              <a:t>Sales optimisation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0048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6E2DA-FC37-4B9F-B7B4-1E29925BC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latin typeface="Book Antiqua"/>
              </a:rPr>
              <a:t>First Customer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D513976-9F35-7A4E-5072-165EB4FB3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Waitrose will be the first customer</a:t>
            </a:r>
          </a:p>
          <a:p>
            <a:r>
              <a:rPr lang="en-US" sz="2000"/>
              <a:t>We aim to expand to other retail chains in the future.</a:t>
            </a:r>
          </a:p>
          <a:p>
            <a:r>
              <a:rPr lang="en-US" sz="2000"/>
              <a:t>Strategic partnership with well-known and established companies.</a:t>
            </a:r>
          </a:p>
        </p:txBody>
      </p:sp>
      <p:pic>
        <p:nvPicPr>
          <p:cNvPr id="7" name="Content Placeholder 6" descr="Keeping Customers Happy: 4 Tips to Improve Customer Service | Provide ...">
            <a:extLst>
              <a:ext uri="{FF2B5EF4-FFF2-40B4-BE49-F238E27FC236}">
                <a16:creationId xmlns:a16="http://schemas.microsoft.com/office/drawing/2014/main" id="{6F5DFE34-A53D-E481-7404-BD4E5115C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583845"/>
            <a:ext cx="5150277" cy="351506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5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84BE9-9BAA-3A8B-5E56-BAB70C54D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4000"/>
              <a:t>Costs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F9286-AB7D-81C5-E01F-BE4EA211C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Hardware Costs</a:t>
            </a:r>
          </a:p>
          <a:p>
            <a:r>
              <a:rPr lang="en-US" sz="2000"/>
              <a:t>Software Costs</a:t>
            </a:r>
          </a:p>
          <a:p>
            <a:r>
              <a:rPr lang="en-US" sz="2000"/>
              <a:t>Operational costs</a:t>
            </a:r>
          </a:p>
          <a:p>
            <a:r>
              <a:rPr lang="en-US" sz="2000"/>
              <a:t>Staffing costs</a:t>
            </a:r>
          </a:p>
          <a:p>
            <a:r>
              <a:rPr lang="en-US" sz="2000"/>
              <a:t>Marketing and sales costs.</a:t>
            </a:r>
          </a:p>
          <a:p>
            <a:r>
              <a:rPr lang="en-US" sz="2000">
                <a:ea typeface="+mn-lt"/>
                <a:cs typeface="+mn-lt"/>
              </a:rPr>
              <a:t>Support &amp; maintenance costs.</a:t>
            </a:r>
            <a:endParaRPr lang="en-US" sz="2000"/>
          </a:p>
          <a:p>
            <a:r>
              <a:rPr lang="en-US" sz="2000"/>
              <a:t>Miscellaneous costs ( Legal fees, travel expenses)</a:t>
            </a:r>
          </a:p>
          <a:p>
            <a:endParaRPr lang="en-US" sz="2000"/>
          </a:p>
          <a:p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hat is Cost? Types of Cost in Accounting">
            <a:extLst>
              <a:ext uri="{FF2B5EF4-FFF2-40B4-BE49-F238E27FC236}">
                <a16:creationId xmlns:a16="http://schemas.microsoft.com/office/drawing/2014/main" id="{878DAE13-E665-49C2-E437-46E7F4D101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19" r="10024" b="1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176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784C18-188A-9D3E-0EEA-09E802FBC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511DF1-0C15-6C27-5E75-FF2E13428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FF07B-401B-A56C-5BF4-EC50B868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latin typeface="Book Antiqua"/>
              </a:rPr>
              <a:t>Competition analysis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9BCF92F-1E14-D401-FD77-3B75CE3F5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B3A5B32-62B2-954D-30B8-293CDF6177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C20C25E-75BA-63D3-F27A-087A77036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70E0C0F6-2BD1-C102-812C-A1BCA7B4A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21EA20-89E4-394D-5E9E-66F66D19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latin typeface="Book Antiqua"/>
              </a:rPr>
              <a:t>There are private companies all around that provide software and hardware maintenance services. </a:t>
            </a:r>
            <a:endParaRPr lang="en-US">
              <a:latin typeface="Book Antiqua"/>
            </a:endParaRPr>
          </a:p>
          <a:p>
            <a:pPr marL="0" indent="0">
              <a:buNone/>
            </a:pPr>
            <a:r>
              <a:rPr lang="en-US" sz="2000">
                <a:latin typeface="Book Antiqua"/>
              </a:rPr>
              <a:t>Some examples are:</a:t>
            </a:r>
          </a:p>
          <a:p>
            <a:pPr marL="342900" indent="-342900"/>
            <a:r>
              <a:rPr lang="en-US" sz="1600" b="1">
                <a:latin typeface="Book Antiqua"/>
              </a:rPr>
              <a:t>IBM</a:t>
            </a:r>
          </a:p>
          <a:p>
            <a:pPr marL="342900" indent="-342900"/>
            <a:r>
              <a:rPr lang="en-US" sz="1600" b="1">
                <a:latin typeface="Book Antiqua"/>
              </a:rPr>
              <a:t>Full Metal</a:t>
            </a:r>
          </a:p>
          <a:p>
            <a:pPr marL="342900" indent="-342900"/>
            <a:r>
              <a:rPr lang="en-US" sz="1600" b="1">
                <a:latin typeface="Book Antiqua"/>
              </a:rPr>
              <a:t>Gartner</a:t>
            </a:r>
          </a:p>
          <a:p>
            <a:pPr marL="0" indent="0">
              <a:buNone/>
            </a:pPr>
            <a:r>
              <a:rPr lang="en-US" sz="2000">
                <a:latin typeface="Book Antiqua"/>
              </a:rPr>
              <a:t>However, these are private companies who work on commission. We can provide customized and long-term maintenance which allows us to stand out as a more reliable alternative.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E333C-98F4-2EB7-968D-F0E962459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C70595-8893-1362-86A0-5379CDE47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The Staffroom: How competitions help our learners thrive">
            <a:extLst>
              <a:ext uri="{FF2B5EF4-FFF2-40B4-BE49-F238E27FC236}">
                <a16:creationId xmlns:a16="http://schemas.microsoft.com/office/drawing/2014/main" id="{75E2A157-D533-DBBB-5838-4A8F700BBC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62" r="23080" b="-1"/>
          <a:stretch/>
        </p:blipFill>
        <p:spPr>
          <a:xfrm>
            <a:off x="9930064" y="799352"/>
            <a:ext cx="1473134" cy="1184896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D8D9B60-964E-D5FA-80A6-C404D15D5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835782"/>
              </p:ext>
            </p:extLst>
          </p:nvPr>
        </p:nvGraphicFramePr>
        <p:xfrm>
          <a:off x="332138" y="2090569"/>
          <a:ext cx="11571104" cy="4253578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458485">
                  <a:extLst>
                    <a:ext uri="{9D8B030D-6E8A-4147-A177-3AD203B41FA5}">
                      <a16:colId xmlns:a16="http://schemas.microsoft.com/office/drawing/2014/main" val="1737354422"/>
                    </a:ext>
                  </a:extLst>
                </a:gridCol>
                <a:gridCol w="2184630">
                  <a:extLst>
                    <a:ext uri="{9D8B030D-6E8A-4147-A177-3AD203B41FA5}">
                      <a16:colId xmlns:a16="http://schemas.microsoft.com/office/drawing/2014/main" val="3266079012"/>
                    </a:ext>
                  </a:extLst>
                </a:gridCol>
                <a:gridCol w="1855846">
                  <a:extLst>
                    <a:ext uri="{9D8B030D-6E8A-4147-A177-3AD203B41FA5}">
                      <a16:colId xmlns:a16="http://schemas.microsoft.com/office/drawing/2014/main" val="3971242858"/>
                    </a:ext>
                  </a:extLst>
                </a:gridCol>
                <a:gridCol w="2179793">
                  <a:extLst>
                    <a:ext uri="{9D8B030D-6E8A-4147-A177-3AD203B41FA5}">
                      <a16:colId xmlns:a16="http://schemas.microsoft.com/office/drawing/2014/main" val="2011724840"/>
                    </a:ext>
                  </a:extLst>
                </a:gridCol>
                <a:gridCol w="2892350">
                  <a:extLst>
                    <a:ext uri="{9D8B030D-6E8A-4147-A177-3AD203B41FA5}">
                      <a16:colId xmlns:a16="http://schemas.microsoft.com/office/drawing/2014/main" val="3660571538"/>
                    </a:ext>
                  </a:extLst>
                </a:gridCol>
              </a:tblGrid>
              <a:tr h="360597">
                <a:tc>
                  <a:txBody>
                    <a:bodyPr/>
                    <a:lstStyle/>
                    <a:p>
                      <a:pPr algn="l" fontAlgn="base"/>
                      <a:r>
                        <a:rPr lang="en-GB" sz="2000" b="0" i="0" baseline="0">
                          <a:solidFill>
                            <a:schemeClr val="tx1"/>
                          </a:solidFill>
                          <a:effectLst/>
                        </a:rPr>
                        <a:t>Competitor​</a:t>
                      </a:r>
                    </a:p>
                  </a:txBody>
                  <a:tcPr marL="37464" marR="37464" marT="18732" marB="1873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sz="2000" b="0" i="0" u="sng" baseline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OUR IDEA</a:t>
                      </a:r>
                    </a:p>
                  </a:txBody>
                  <a:tcPr marL="37464" marR="37464" marT="18732" marB="18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sz="2000" b="0" i="0" u="none" strike="noStrike" baseline="0">
                          <a:solidFill>
                            <a:schemeClr val="tx1"/>
                          </a:solidFill>
                          <a:effectLst/>
                        </a:rPr>
                        <a:t>Tesco</a:t>
                      </a:r>
                      <a:endParaRPr lang="en-GB" sz="2000" b="0" i="0" baseline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464" marR="37464" marT="18732" marB="18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sz="2000" b="0" i="0" u="none" strike="noStrike" baseline="0">
                          <a:solidFill>
                            <a:schemeClr val="tx1"/>
                          </a:solidFill>
                          <a:effectLst/>
                        </a:rPr>
                        <a:t>Sainsbury’s</a:t>
                      </a:r>
                      <a:endParaRPr lang="en-GB" sz="2000" b="0" i="0" baseline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464" marR="37464" marT="18732" marB="18732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sz="2000" b="0" i="0" u="none" strike="noStrike" baseline="0">
                          <a:solidFill>
                            <a:schemeClr val="tx1"/>
                          </a:solidFill>
                          <a:effectLst/>
                        </a:rPr>
                        <a:t>Asda</a:t>
                      </a:r>
                      <a:endParaRPr lang="en-GB" sz="2000" b="0" i="0" baseline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7464" marR="37464" marT="18732" marB="18732"/>
                </a:tc>
                <a:extLst>
                  <a:ext uri="{0D108BD9-81ED-4DB2-BD59-A6C34878D82A}">
                    <a16:rowId xmlns:a16="http://schemas.microsoft.com/office/drawing/2014/main" val="3656384896"/>
                  </a:ext>
                </a:extLst>
              </a:tr>
              <a:tr h="3892981">
                <a:tc>
                  <a:txBody>
                    <a:bodyPr/>
                    <a:lstStyle/>
                    <a:p>
                      <a:pPr algn="l" fontAlgn="base"/>
                      <a:r>
                        <a:rPr lang="en-GB" sz="2000" b="0" i="0" baseline="0">
                          <a:solidFill>
                            <a:srgbClr val="000000"/>
                          </a:solidFill>
                          <a:effectLst/>
                        </a:rPr>
                        <a:t>Benefits To Customer​</a:t>
                      </a:r>
                    </a:p>
                  </a:txBody>
                  <a:tcPr marL="37464" marR="37464" marT="18732" marB="1873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sz="2000" b="0" i="0" baseline="0">
                          <a:solidFill>
                            <a:srgbClr val="000000"/>
                          </a:solidFill>
                          <a:effectLst/>
                        </a:rPr>
                        <a:t>Real time data synchronisation.</a:t>
                      </a:r>
                    </a:p>
                    <a:p>
                      <a:pPr algn="l" fontAlgn="base"/>
                      <a:endParaRPr lang="en-GB" sz="2000" b="0" i="0" baseline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GB" sz="2000" b="0" i="0" baseline="0">
                          <a:solidFill>
                            <a:srgbClr val="000000"/>
                          </a:solidFill>
                          <a:effectLst/>
                        </a:rPr>
                        <a:t>Tailor data fields.</a:t>
                      </a:r>
                    </a:p>
                    <a:p>
                      <a:pPr algn="l" fontAlgn="base"/>
                      <a:endParaRPr lang="en-GB" sz="2000" b="0" i="0" baseline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GB" sz="2000" b="0" i="0" baseline="0">
                          <a:solidFill>
                            <a:srgbClr val="000000"/>
                          </a:solidFill>
                          <a:effectLst/>
                        </a:rPr>
                        <a:t>Automated data validation.</a:t>
                      </a:r>
                    </a:p>
                    <a:p>
                      <a:pPr algn="l" fontAlgn="base"/>
                      <a:endParaRPr lang="en-GB" sz="2000" b="0" i="0" baseline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GB" sz="2000" b="0" i="0" baseline="0">
                          <a:solidFill>
                            <a:srgbClr val="000000"/>
                          </a:solidFill>
                          <a:effectLst/>
                        </a:rPr>
                        <a:t>Ethical and sustainable practice into data handling.</a:t>
                      </a:r>
                    </a:p>
                  </a:txBody>
                  <a:tcPr marL="37464" marR="37464" marT="18732" marB="18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sz="2000" b="0" i="0" baseline="0">
                          <a:solidFill>
                            <a:srgbClr val="000000"/>
                          </a:solidFill>
                          <a:effectLst/>
                        </a:rPr>
                        <a:t>Use Roambee to enhance supply chain visibility.</a:t>
                      </a:r>
                    </a:p>
                    <a:p>
                      <a:pPr algn="l" fontAlgn="base"/>
                      <a:endParaRPr lang="en-GB" sz="2000" b="0" i="0" baseline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en-GB" sz="2000" b="0" i="0" baseline="0">
                          <a:solidFill>
                            <a:srgbClr val="000000"/>
                          </a:solidFill>
                          <a:effectLst/>
                        </a:rPr>
                        <a:t>Clubcard to personalised customer engagement.</a:t>
                      </a:r>
                    </a:p>
                  </a:txBody>
                  <a:tcPr marL="37464" marR="37464" marT="18732" marB="18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2000" b="0" i="0" baseline="0">
                          <a:solidFill>
                            <a:srgbClr val="000000"/>
                          </a:solidFill>
                          <a:effectLst/>
                        </a:rPr>
                        <a:t>Use AWS to enhance supply chain visibility.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endParaRPr lang="en-GB" sz="2000" b="0" i="0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endParaRPr lang="en-GB" sz="2000" b="0" i="0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2000" b="0" i="0" baseline="0">
                          <a:solidFill>
                            <a:srgbClr val="000000"/>
                          </a:solidFill>
                          <a:effectLst/>
                        </a:rPr>
                        <a:t>Loyalty programs to personalised customer engagement.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endParaRPr lang="en-GB" sz="2000" b="0" i="0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464" marR="37464" marT="18732" marB="1873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i="0" baseline="0">
                          <a:solidFill>
                            <a:srgbClr val="000000"/>
                          </a:solidFill>
                          <a:effectLst/>
                        </a:rPr>
                        <a:t>Use MS Azure to enhance supply chain visibility.</a:t>
                      </a:r>
                    </a:p>
                    <a:p>
                      <a:pPr algn="l" fontAlgn="base"/>
                      <a:endParaRPr lang="en-GB" sz="2000" b="0" i="0" baseline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endParaRPr lang="en-GB" sz="2000" b="0" i="0" baseline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i="0" baseline="0">
                          <a:solidFill>
                            <a:srgbClr val="000000"/>
                          </a:solidFill>
                          <a:effectLst/>
                        </a:rPr>
                        <a:t>Asda reward to personalised customer engagement.</a:t>
                      </a:r>
                    </a:p>
                    <a:p>
                      <a:pPr algn="l" fontAlgn="base"/>
                      <a:endParaRPr lang="en-GB" sz="2000" b="0" i="0" baseline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7464" marR="37464" marT="18732" marB="18732"/>
                </a:tc>
                <a:extLst>
                  <a:ext uri="{0D108BD9-81ED-4DB2-BD59-A6C34878D82A}">
                    <a16:rowId xmlns:a16="http://schemas.microsoft.com/office/drawing/2014/main" val="3359233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0770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50B48E-C5EE-C441-5802-8144D245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latin typeface="Book Antiqua"/>
              </a:rPr>
              <a:t>Competition analysis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1811279-C662-C5A9-44FA-AE17BD546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latin typeface="Book Antiqua"/>
              </a:rPr>
              <a:t>There are private companies all around that provide software and hardware maintenance services. </a:t>
            </a:r>
            <a:endParaRPr lang="en-US">
              <a:latin typeface="Book Antiqua"/>
            </a:endParaRPr>
          </a:p>
          <a:p>
            <a:pPr marL="0" indent="0">
              <a:buNone/>
            </a:pPr>
            <a:r>
              <a:rPr lang="en-US" sz="2000">
                <a:latin typeface="Book Antiqua"/>
              </a:rPr>
              <a:t>Some examples are:</a:t>
            </a:r>
          </a:p>
          <a:p>
            <a:pPr marL="342900" indent="-342900"/>
            <a:r>
              <a:rPr lang="en-US" sz="1600" b="1">
                <a:latin typeface="Book Antiqua"/>
              </a:rPr>
              <a:t>IBM</a:t>
            </a:r>
          </a:p>
          <a:p>
            <a:pPr marL="342900" indent="-342900"/>
            <a:r>
              <a:rPr lang="en-US" sz="1600" b="1">
                <a:latin typeface="Book Antiqua"/>
              </a:rPr>
              <a:t>Full Metal</a:t>
            </a:r>
          </a:p>
          <a:p>
            <a:pPr marL="342900" indent="-342900"/>
            <a:r>
              <a:rPr lang="en-US" sz="1600" b="1">
                <a:latin typeface="Book Antiqua"/>
              </a:rPr>
              <a:t>Gartner</a:t>
            </a:r>
          </a:p>
          <a:p>
            <a:pPr marL="0" indent="0">
              <a:buNone/>
            </a:pPr>
            <a:r>
              <a:rPr lang="en-US" sz="2000">
                <a:latin typeface="Book Antiqua"/>
              </a:rPr>
              <a:t>However, these are private companies who work on commission. We can provide customized and long-term maintenance which allows us to stand out as a more reliable alternative.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The Staffroom: How competitions help our learners thrive">
            <a:extLst>
              <a:ext uri="{FF2B5EF4-FFF2-40B4-BE49-F238E27FC236}">
                <a16:creationId xmlns:a16="http://schemas.microsoft.com/office/drawing/2014/main" id="{EBADB0D7-02D5-597E-1984-088BAEF9A2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62" r="23080" b="-1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59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C3C5C1-B880-BAD0-75BB-D9E2E652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4000"/>
              <a:t>Revenue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571DC4-5726-8689-FC30-116EC6163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/>
              <a:t>Revenue from software sales.</a:t>
            </a:r>
          </a:p>
          <a:p>
            <a:r>
              <a:rPr lang="en-US" sz="2000"/>
              <a:t>Subscription fees.</a:t>
            </a:r>
          </a:p>
          <a:p>
            <a:r>
              <a:rPr lang="en-US" sz="2000"/>
              <a:t>Consulting services.</a:t>
            </a:r>
          </a:p>
          <a:p>
            <a:r>
              <a:rPr lang="en-US" sz="2000"/>
              <a:t>Hardware and software sales.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Revenue flat vector illustration. Income, profit concept. Business ...">
            <a:extLst>
              <a:ext uri="{FF2B5EF4-FFF2-40B4-BE49-F238E27FC236}">
                <a16:creationId xmlns:a16="http://schemas.microsoft.com/office/drawing/2014/main" id="{89FF82E6-E534-BB07-8C7B-CD3AA88EE7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99" r="3249" b="1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83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A2F9A-AEA5-1786-8578-C9BA4A1EB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4000"/>
              <a:t>Customer segments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8AA55-8009-2B41-1B45-E9362C277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Small to large retail chains</a:t>
            </a:r>
          </a:p>
          <a:p>
            <a:r>
              <a:rPr lang="en-US" sz="2000"/>
              <a:t>Grocery distributor</a:t>
            </a:r>
          </a:p>
          <a:p>
            <a:r>
              <a:rPr lang="en-US" sz="2000"/>
              <a:t>Retail startups</a:t>
            </a:r>
          </a:p>
          <a:p>
            <a:r>
              <a:rPr lang="en-US" sz="2000"/>
              <a:t>Our first customer will be Waitrose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Restaurant Customer Segmentation for More Powerful Marketing">
            <a:extLst>
              <a:ext uri="{FF2B5EF4-FFF2-40B4-BE49-F238E27FC236}">
                <a16:creationId xmlns:a16="http://schemas.microsoft.com/office/drawing/2014/main" id="{D2BA8A5F-A666-2503-F3A7-5D482F6F6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701" b="2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13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D7A504-055D-B02C-780B-86AF7005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006" y="856181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Legal and ethical implications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5E6AB-5D99-D15B-E2E0-CE85B70E6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" y="2477397"/>
            <a:ext cx="5679472" cy="4851752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sz="1600" b="1" u="sng"/>
              <a:t>Data Protection and Privacy Laws </a:t>
            </a:r>
          </a:p>
          <a:p>
            <a:pPr marL="0" indent="0">
              <a:buNone/>
            </a:pPr>
            <a:r>
              <a:rPr lang="en-US" sz="1600"/>
              <a:t> -  Compliance with data protection as an IT solutions provider is critical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600"/>
              <a:t>Handling sensitive data from customer or employees requires robust measures to ensure confidentiality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600"/>
              <a:t>Failure to adhere to these laws can lead to significant legal action as well as fines</a:t>
            </a:r>
          </a:p>
          <a:p>
            <a:pPr>
              <a:buFont typeface="Calibri" panose="020B0604020202020204" pitchFamily="34" charset="0"/>
              <a:buChar char="-"/>
            </a:pPr>
            <a:endParaRPr lang="en-US" sz="1600"/>
          </a:p>
          <a:p>
            <a:pPr>
              <a:buFont typeface="Calibri" panose="020B0604020202020204" pitchFamily="34" charset="0"/>
              <a:buChar char="-"/>
            </a:pPr>
            <a:r>
              <a:rPr lang="en-US" sz="1600" b="1" u="sng"/>
              <a:t>Responsible Data Usage 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600"/>
              <a:t>Data usage as an IT solutions provider should be transparent and responsible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600"/>
              <a:t>Data collected and viewed through our systems must be </a:t>
            </a:r>
            <a:r>
              <a:rPr lang="en-US" sz="1600" err="1"/>
              <a:t>utilised</a:t>
            </a:r>
            <a:r>
              <a:rPr lang="en-US" sz="1600"/>
              <a:t> for the purpose agreed upon with Waitrose.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600"/>
              <a:t>Ensuring data is used ethically protects the client as well as the relationship and integrity between the client and our company</a:t>
            </a:r>
          </a:p>
          <a:p>
            <a:pPr>
              <a:buFont typeface="Calibri" panose="020B0604020202020204" pitchFamily="34" charset="0"/>
              <a:buChar char="-"/>
            </a:pPr>
            <a:endParaRPr lang="en-US" sz="2000"/>
          </a:p>
          <a:p>
            <a:pPr>
              <a:buFont typeface="Calibri" panose="020B0604020202020204" pitchFamily="34" charset="0"/>
              <a:buChar char="-"/>
            </a:pPr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portance of Legal Ethics in Law Programs">
            <a:extLst>
              <a:ext uri="{FF2B5EF4-FFF2-40B4-BE49-F238E27FC236}">
                <a16:creationId xmlns:a16="http://schemas.microsoft.com/office/drawing/2014/main" id="{0C7F6F14-289E-F7E1-44EF-AF40F4B0E5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422" r="-2" b="-2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45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49AE8F-FC76-3048-9F52-AEAF7A752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Elevator pitch</a:t>
            </a:r>
          </a:p>
        </p:txBody>
      </p:sp>
      <p:pic>
        <p:nvPicPr>
          <p:cNvPr id="7" name="Graphic 6" descr="CRM Customer Insights App">
            <a:extLst>
              <a:ext uri="{FF2B5EF4-FFF2-40B4-BE49-F238E27FC236}">
                <a16:creationId xmlns:a16="http://schemas.microsoft.com/office/drawing/2014/main" id="{63404932-9E92-B505-BE12-4882E33C7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3A1D5-9564-B644-38AD-4A678245E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1800">
              <a:solidFill>
                <a:schemeClr val="tx2"/>
              </a:solidFill>
              <a:latin typeface="Roboto"/>
              <a:ea typeface="Roboto"/>
              <a:cs typeface="Roboto"/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Innovative software and hardware solutions.</a:t>
            </a: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Streamline retail operations.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Enhance customer experiences.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Scalable and reliable systems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Tailored solutions for retail businesses.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Simplified inventory and sales management.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4989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nterview Questions to Ask the Hiring Manager | JRoss Recruiters">
            <a:extLst>
              <a:ext uri="{FF2B5EF4-FFF2-40B4-BE49-F238E27FC236}">
                <a16:creationId xmlns:a16="http://schemas.microsoft.com/office/drawing/2014/main" id="{E7BFFC7E-5846-2585-A74F-2C3B565A3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85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49883-419C-9C69-4C9F-3A76F3F3F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42595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Any Questions?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5069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4356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005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Presentation </vt:lpstr>
      <vt:lpstr>Key Issues</vt:lpstr>
      <vt:lpstr>PowerPoint Presentation</vt:lpstr>
      <vt:lpstr>Value proposition</vt:lpstr>
      <vt:lpstr>First Customer</vt:lpstr>
      <vt:lpstr>Costs</vt:lpstr>
      <vt:lpstr>Competition analysis</vt:lpstr>
      <vt:lpstr>Competition analysis</vt:lpstr>
      <vt:lpstr>Revenue</vt:lpstr>
      <vt:lpstr>Customer segments</vt:lpstr>
      <vt:lpstr>Legal and ethical implications</vt:lpstr>
      <vt:lpstr>Elevator pitch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2024-11-20T11:06:58Z</dcterms:created>
  <dcterms:modified xsi:type="dcterms:W3CDTF">2024-11-27T17:12:37Z</dcterms:modified>
</cp:coreProperties>
</file>